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0" r:id="rId2"/>
    <p:sldId id="256" r:id="rId3"/>
    <p:sldId id="257" r:id="rId4"/>
    <p:sldId id="261" r:id="rId5"/>
    <p:sldId id="259"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4" d="100"/>
          <a:sy n="114" d="100"/>
        </p:scale>
        <p:origin x="438"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0476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92FD8B-4268-135C-6BCE-A1430497697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40888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105000"/>
          </a:solidFill>
          <a:ln w="12700">
            <a:solidFill>
              <a:srgbClr val="105000"/>
            </a:solidFill>
            <a:prstDash val="solid"/>
          </a:ln>
        </p:spPr>
        <p:txBody>
          <a:bodyPr/>
          <a:lstStyle/>
          <a:p>
            <a:endParaRPr lang="en-US"/>
          </a:p>
        </p:txBody>
      </p:sp>
      <p:sp>
        <p:nvSpPr>
          <p:cNvPr id="3" name="Text 1"/>
          <p:cNvSpPr/>
          <p:nvPr/>
        </p:nvSpPr>
        <p:spPr>
          <a:xfrm>
            <a:off x="365760" y="0"/>
            <a:ext cx="9601200" cy="7772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Overview</a:t>
            </a:r>
            <a:endParaRPr lang="en-US" sz="2600" dirty="0"/>
          </a:p>
        </p:txBody>
      </p:sp>
      <p:sp>
        <p:nvSpPr>
          <p:cNvPr id="4" name="Text 2"/>
          <p:cNvSpPr/>
          <p:nvPr/>
        </p:nvSpPr>
        <p:spPr>
          <a:xfrm>
            <a:off x="0" y="6583680"/>
            <a:ext cx="12161520" cy="27432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Northwest Missouri State University  |  Web Mining Final Project</a:t>
            </a:r>
            <a:endParaRPr lang="en-US" sz="900" dirty="0"/>
          </a:p>
        </p:txBody>
      </p:sp>
      <p:grpSp>
        <p:nvGrpSpPr>
          <p:cNvPr id="26" name="Group 25">
            <a:extLst>
              <a:ext uri="{FF2B5EF4-FFF2-40B4-BE49-F238E27FC236}">
                <a16:creationId xmlns:a16="http://schemas.microsoft.com/office/drawing/2014/main" id="{D4D90820-5E6E-6F43-4CA2-B3FFC39D4B0E}"/>
              </a:ext>
            </a:extLst>
          </p:cNvPr>
          <p:cNvGrpSpPr/>
          <p:nvPr/>
        </p:nvGrpSpPr>
        <p:grpSpPr>
          <a:xfrm>
            <a:off x="365760" y="1143000"/>
            <a:ext cx="3566160" cy="1280160"/>
            <a:chOff x="365760" y="2331720"/>
            <a:chExt cx="3566160" cy="1280160"/>
          </a:xfrm>
        </p:grpSpPr>
        <p:sp>
          <p:nvSpPr>
            <p:cNvPr id="8" name="Shape 6"/>
            <p:cNvSpPr/>
            <p:nvPr/>
          </p:nvSpPr>
          <p:spPr>
            <a:xfrm>
              <a:off x="365760" y="2331720"/>
              <a:ext cx="3566160" cy="128016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9" name="Text 7"/>
            <p:cNvSpPr/>
            <p:nvPr/>
          </p:nvSpPr>
          <p:spPr>
            <a:xfrm>
              <a:off x="365760" y="2377440"/>
              <a:ext cx="3566160" cy="594360"/>
            </a:xfrm>
            <a:prstGeom prst="rect">
              <a:avLst/>
            </a:prstGeom>
            <a:noFill/>
            <a:ln/>
          </p:spPr>
          <p:txBody>
            <a:bodyPr wrap="square" rtlCol="0" anchor="ctr"/>
            <a:lstStyle/>
            <a:p>
              <a:pPr marL="0" indent="0" algn="ctr">
                <a:buNone/>
              </a:pPr>
              <a:r>
                <a:rPr lang="en-US" sz="3200" b="1" dirty="0">
                  <a:solidFill>
                    <a:srgbClr val="105000"/>
                  </a:solidFill>
                  <a:latin typeface="Calibri" pitchFamily="34" charset="0"/>
                  <a:ea typeface="Calibri" pitchFamily="34" charset="-122"/>
                  <a:cs typeface="Calibri" pitchFamily="34" charset="-120"/>
                </a:rPr>
                <a:t>994</a:t>
              </a:r>
              <a:endParaRPr lang="en-US" sz="3200" dirty="0"/>
            </a:p>
          </p:txBody>
        </p:sp>
        <p:sp>
          <p:nvSpPr>
            <p:cNvPr id="10" name="Text 8"/>
            <p:cNvSpPr/>
            <p:nvPr/>
          </p:nvSpPr>
          <p:spPr>
            <a:xfrm>
              <a:off x="365760" y="2926080"/>
              <a:ext cx="3566160" cy="320040"/>
            </a:xfrm>
            <a:prstGeom prst="rect">
              <a:avLst/>
            </a:prstGeom>
            <a:noFill/>
            <a:ln/>
          </p:spPr>
          <p:txBody>
            <a:bodyPr wrap="square"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Posts Collected</a:t>
              </a:r>
              <a:endParaRPr lang="en-US" sz="1300" dirty="0"/>
            </a:p>
          </p:txBody>
        </p:sp>
        <p:sp>
          <p:nvSpPr>
            <p:cNvPr id="11" name="Text 9"/>
            <p:cNvSpPr/>
            <p:nvPr/>
          </p:nvSpPr>
          <p:spPr>
            <a:xfrm>
              <a:off x="365760" y="3218688"/>
              <a:ext cx="3566160" cy="27432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r/fitness + r/weightlifting</a:t>
              </a:r>
              <a:endParaRPr lang="en-US" sz="1100" dirty="0"/>
            </a:p>
          </p:txBody>
        </p:sp>
      </p:grpSp>
      <p:grpSp>
        <p:nvGrpSpPr>
          <p:cNvPr id="27" name="Group 26">
            <a:extLst>
              <a:ext uri="{FF2B5EF4-FFF2-40B4-BE49-F238E27FC236}">
                <a16:creationId xmlns:a16="http://schemas.microsoft.com/office/drawing/2014/main" id="{C39DB1DB-3B6B-28B8-D674-2CBFC01BA3F2}"/>
              </a:ext>
            </a:extLst>
          </p:cNvPr>
          <p:cNvGrpSpPr/>
          <p:nvPr/>
        </p:nvGrpSpPr>
        <p:grpSpPr>
          <a:xfrm>
            <a:off x="4297680" y="1143000"/>
            <a:ext cx="3566160" cy="1280160"/>
            <a:chOff x="4297680" y="2331720"/>
            <a:chExt cx="3566160" cy="1280160"/>
          </a:xfrm>
        </p:grpSpPr>
        <p:sp>
          <p:nvSpPr>
            <p:cNvPr id="12" name="Shape 10"/>
            <p:cNvSpPr/>
            <p:nvPr/>
          </p:nvSpPr>
          <p:spPr>
            <a:xfrm>
              <a:off x="4297680" y="2331720"/>
              <a:ext cx="3566160" cy="128016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13" name="Text 11"/>
            <p:cNvSpPr/>
            <p:nvPr/>
          </p:nvSpPr>
          <p:spPr>
            <a:xfrm>
              <a:off x="4297680" y="2377440"/>
              <a:ext cx="3566160" cy="594360"/>
            </a:xfrm>
            <a:prstGeom prst="rect">
              <a:avLst/>
            </a:prstGeom>
            <a:noFill/>
            <a:ln/>
          </p:spPr>
          <p:txBody>
            <a:bodyPr wrap="square" rtlCol="0" anchor="ctr"/>
            <a:lstStyle/>
            <a:p>
              <a:pPr marL="0" indent="0" algn="ctr">
                <a:buNone/>
              </a:pPr>
              <a:r>
                <a:rPr lang="en-US" sz="3200" b="1" dirty="0">
                  <a:solidFill>
                    <a:srgbClr val="105000"/>
                  </a:solidFill>
                  <a:latin typeface="Calibri" pitchFamily="34" charset="0"/>
                  <a:ea typeface="Calibri" pitchFamily="34" charset="-122"/>
                  <a:cs typeface="Calibri" pitchFamily="34" charset="-120"/>
                </a:rPr>
                <a:t>2,114</a:t>
              </a:r>
              <a:endParaRPr lang="en-US" sz="3200" dirty="0"/>
            </a:p>
          </p:txBody>
        </p:sp>
        <p:sp>
          <p:nvSpPr>
            <p:cNvPr id="14" name="Text 12"/>
            <p:cNvSpPr/>
            <p:nvPr/>
          </p:nvSpPr>
          <p:spPr>
            <a:xfrm>
              <a:off x="4297680" y="2926080"/>
              <a:ext cx="3566160" cy="320040"/>
            </a:xfrm>
            <a:prstGeom prst="rect">
              <a:avLst/>
            </a:prstGeom>
            <a:noFill/>
            <a:ln/>
          </p:spPr>
          <p:txBody>
            <a:bodyPr wrap="square"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Comments Collected</a:t>
              </a:r>
              <a:endParaRPr lang="en-US" sz="1300" dirty="0"/>
            </a:p>
          </p:txBody>
        </p:sp>
        <p:sp>
          <p:nvSpPr>
            <p:cNvPr id="15" name="Text 13"/>
            <p:cNvSpPr/>
            <p:nvPr/>
          </p:nvSpPr>
          <p:spPr>
            <a:xfrm>
              <a:off x="4297680" y="3218688"/>
              <a:ext cx="3566160" cy="27432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Top-level comments</a:t>
              </a:r>
              <a:endParaRPr lang="en-US" sz="1100" dirty="0"/>
            </a:p>
          </p:txBody>
        </p:sp>
      </p:grpSp>
      <p:grpSp>
        <p:nvGrpSpPr>
          <p:cNvPr id="28" name="Group 27">
            <a:extLst>
              <a:ext uri="{FF2B5EF4-FFF2-40B4-BE49-F238E27FC236}">
                <a16:creationId xmlns:a16="http://schemas.microsoft.com/office/drawing/2014/main" id="{A0E157C7-1714-563A-2577-9F5C274C32BF}"/>
              </a:ext>
            </a:extLst>
          </p:cNvPr>
          <p:cNvGrpSpPr/>
          <p:nvPr/>
        </p:nvGrpSpPr>
        <p:grpSpPr>
          <a:xfrm>
            <a:off x="8183880" y="1143000"/>
            <a:ext cx="3566160" cy="1280160"/>
            <a:chOff x="8229600" y="2331720"/>
            <a:chExt cx="3566160" cy="1280160"/>
          </a:xfrm>
        </p:grpSpPr>
        <p:sp>
          <p:nvSpPr>
            <p:cNvPr id="16" name="Shape 14"/>
            <p:cNvSpPr/>
            <p:nvPr/>
          </p:nvSpPr>
          <p:spPr>
            <a:xfrm>
              <a:off x="8229600" y="2331720"/>
              <a:ext cx="3566160" cy="128016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17" name="Text 15"/>
            <p:cNvSpPr/>
            <p:nvPr/>
          </p:nvSpPr>
          <p:spPr>
            <a:xfrm>
              <a:off x="8229600" y="2377440"/>
              <a:ext cx="3566160" cy="594360"/>
            </a:xfrm>
            <a:prstGeom prst="rect">
              <a:avLst/>
            </a:prstGeom>
            <a:noFill/>
            <a:ln/>
          </p:spPr>
          <p:txBody>
            <a:bodyPr wrap="square" rtlCol="0" anchor="ctr"/>
            <a:lstStyle/>
            <a:p>
              <a:pPr marL="0" indent="0" algn="ctr">
                <a:buNone/>
              </a:pPr>
              <a:r>
                <a:rPr lang="en-US" sz="3200" b="1" dirty="0">
                  <a:solidFill>
                    <a:srgbClr val="105000"/>
                  </a:solidFill>
                  <a:latin typeface="Calibri" pitchFamily="34" charset="0"/>
                  <a:ea typeface="Calibri" pitchFamily="34" charset="-122"/>
                  <a:cs typeface="Calibri" pitchFamily="34" charset="-120"/>
                </a:rPr>
                <a:t>12 Months</a:t>
              </a:r>
              <a:endParaRPr lang="en-US" sz="3200" dirty="0"/>
            </a:p>
          </p:txBody>
        </p:sp>
        <p:sp>
          <p:nvSpPr>
            <p:cNvPr id="18" name="Text 16"/>
            <p:cNvSpPr/>
            <p:nvPr/>
          </p:nvSpPr>
          <p:spPr>
            <a:xfrm>
              <a:off x="8229600" y="2926080"/>
              <a:ext cx="3566160" cy="320040"/>
            </a:xfrm>
            <a:prstGeom prst="rect">
              <a:avLst/>
            </a:prstGeom>
            <a:noFill/>
            <a:ln/>
          </p:spPr>
          <p:txBody>
            <a:bodyPr wrap="square"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Date Range</a:t>
              </a:r>
              <a:endParaRPr lang="en-US" sz="1300" dirty="0"/>
            </a:p>
          </p:txBody>
        </p:sp>
        <p:sp>
          <p:nvSpPr>
            <p:cNvPr id="19" name="Text 17"/>
            <p:cNvSpPr/>
            <p:nvPr/>
          </p:nvSpPr>
          <p:spPr>
            <a:xfrm>
              <a:off x="8229600" y="3218688"/>
              <a:ext cx="3566160" cy="27432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Apr 2025 – Apr 2026</a:t>
              </a:r>
              <a:endParaRPr lang="en-US" sz="1100" dirty="0"/>
            </a:p>
          </p:txBody>
        </p:sp>
      </p:grpSp>
      <p:grpSp>
        <p:nvGrpSpPr>
          <p:cNvPr id="29" name="Group 28">
            <a:extLst>
              <a:ext uri="{FF2B5EF4-FFF2-40B4-BE49-F238E27FC236}">
                <a16:creationId xmlns:a16="http://schemas.microsoft.com/office/drawing/2014/main" id="{BC294374-CAA2-E2AA-2544-34E9847C2F28}"/>
              </a:ext>
            </a:extLst>
          </p:cNvPr>
          <p:cNvGrpSpPr/>
          <p:nvPr/>
        </p:nvGrpSpPr>
        <p:grpSpPr>
          <a:xfrm>
            <a:off x="365760" y="3063240"/>
            <a:ext cx="5394960" cy="3108960"/>
            <a:chOff x="365760" y="3794760"/>
            <a:chExt cx="5394960" cy="2514600"/>
          </a:xfrm>
        </p:grpSpPr>
        <p:sp>
          <p:nvSpPr>
            <p:cNvPr id="20" name="Shape 18"/>
            <p:cNvSpPr/>
            <p:nvPr/>
          </p:nvSpPr>
          <p:spPr>
            <a:xfrm>
              <a:off x="365760" y="3794760"/>
              <a:ext cx="5394960" cy="251460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21" name="Text 19"/>
            <p:cNvSpPr/>
            <p:nvPr/>
          </p:nvSpPr>
          <p:spPr>
            <a:xfrm>
              <a:off x="502920" y="3886200"/>
              <a:ext cx="5120640" cy="365760"/>
            </a:xfrm>
            <a:prstGeom prst="rect">
              <a:avLst/>
            </a:prstGeom>
            <a:noFill/>
            <a:ln/>
          </p:spPr>
          <p:txBody>
            <a:bodyPr wrap="square" rtlCol="0" anchor="ctr"/>
            <a:lstStyle/>
            <a:p>
              <a:pPr marL="0" indent="0">
                <a:buNone/>
              </a:pPr>
              <a:r>
                <a:rPr lang="en-US" sz="1400" b="1" dirty="0">
                  <a:solidFill>
                    <a:srgbClr val="105000"/>
                  </a:solidFill>
                  <a:latin typeface="Calibri" pitchFamily="34" charset="0"/>
                  <a:ea typeface="Calibri" pitchFamily="34" charset="-122"/>
                  <a:cs typeface="Calibri" pitchFamily="34" charset="-120"/>
                </a:rPr>
                <a:t>Research Questions</a:t>
              </a:r>
              <a:endParaRPr lang="en-US" sz="1400" dirty="0"/>
            </a:p>
          </p:txBody>
        </p:sp>
        <p:sp>
          <p:nvSpPr>
            <p:cNvPr id="22" name="Text 20"/>
            <p:cNvSpPr/>
            <p:nvPr/>
          </p:nvSpPr>
          <p:spPr>
            <a:xfrm>
              <a:off x="502920" y="4251960"/>
              <a:ext cx="5120640" cy="1920240"/>
            </a:xfrm>
            <a:prstGeom prst="rect">
              <a:avLst/>
            </a:prstGeom>
            <a:noFill/>
            <a:ln/>
          </p:spPr>
          <p:txBody>
            <a:bodyPr wrap="square" rtlCol="0" anchor="ctr"/>
            <a:lstStyle/>
            <a:p>
              <a:pPr marL="342900" indent="-342900">
                <a:buAutoNum type="arabicPeriod"/>
              </a:pPr>
              <a:r>
                <a:rPr lang="en-US" sz="1300" b="1" dirty="0">
                  <a:solidFill>
                    <a:srgbClr val="1A1A1A"/>
                  </a:solidFill>
                  <a:latin typeface="Calibri" pitchFamily="34" charset="0"/>
                  <a:ea typeface="Calibri" pitchFamily="34" charset="-122"/>
                  <a:cs typeface="Calibri" pitchFamily="34" charset="-120"/>
                </a:rPr>
                <a:t>Gym Talk Inversion: </a:t>
              </a:r>
              <a:r>
                <a:rPr lang="en-US" sz="1300" dirty="0">
                  <a:solidFill>
                    <a:srgbClr val="1A1A1A"/>
                  </a:solidFill>
                  <a:latin typeface="Calibri" pitchFamily="34" charset="0"/>
                  <a:ea typeface="Calibri" pitchFamily="34" charset="-122"/>
                  <a:cs typeface="Calibri" pitchFamily="34" charset="-120"/>
                </a:rPr>
                <a:t>Does adjusting VADER for gym slang meaningfully change sentiment scores?</a:t>
              </a:r>
            </a:p>
            <a:p>
              <a:pPr marL="342900" indent="-342900">
                <a:buAutoNum type="arabicPeriod"/>
              </a:pPr>
              <a:r>
                <a:rPr lang="en-US" sz="1300" b="1" dirty="0">
                  <a:solidFill>
                    <a:srgbClr val="1A1A1A"/>
                  </a:solidFill>
                  <a:latin typeface="Calibri" pitchFamily="34" charset="0"/>
                  <a:ea typeface="Calibri" pitchFamily="34" charset="-122"/>
                  <a:cs typeface="Calibri" pitchFamily="34" charset="-120"/>
                </a:rPr>
                <a:t>Seasonal Sentiment: </a:t>
              </a:r>
              <a:r>
                <a:rPr lang="en-US" sz="1300" dirty="0">
                  <a:solidFill>
                    <a:srgbClr val="1A1A1A"/>
                  </a:solidFill>
                  <a:latin typeface="Calibri" pitchFamily="34" charset="0"/>
                  <a:ea typeface="Calibri" pitchFamily="34" charset="-122"/>
                  <a:cs typeface="Calibri" pitchFamily="34" charset="-120"/>
                </a:rPr>
                <a:t>Do fitness communities show a measurable January spike or fall plateau?</a:t>
              </a:r>
            </a:p>
            <a:p>
              <a:pPr marL="342900" indent="-342900">
                <a:buFontTx/>
                <a:buAutoNum type="arabicPeriod"/>
              </a:pPr>
              <a:r>
                <a:rPr lang="en-US" sz="1300" b="1" dirty="0">
                  <a:solidFill>
                    <a:srgbClr val="1A1A1A"/>
                  </a:solidFill>
                  <a:latin typeface="Calibri" pitchFamily="34" charset="0"/>
                  <a:ea typeface="Calibri" pitchFamily="34" charset="-122"/>
                  <a:cs typeface="Calibri" pitchFamily="34" charset="-120"/>
                </a:rPr>
                <a:t>Technical Density: </a:t>
              </a:r>
              <a:r>
                <a:rPr lang="en-US" sz="1300" dirty="0">
                  <a:solidFill>
                    <a:srgbClr val="1A1A1A"/>
                  </a:solidFill>
                  <a:latin typeface="Calibri" pitchFamily="34" charset="0"/>
                  <a:ea typeface="Calibri" pitchFamily="34" charset="-122"/>
                  <a:cs typeface="Calibri" pitchFamily="34" charset="-120"/>
                </a:rPr>
                <a:t>Does r/weightlifting use more specialized jargon than r/fitness?</a:t>
              </a:r>
            </a:p>
            <a:p>
              <a:pPr marL="342900" indent="-342900">
                <a:buAutoNum type="arabicPeriod"/>
              </a:pPr>
              <a:endParaRPr lang="en-US" sz="1300" dirty="0"/>
            </a:p>
          </p:txBody>
        </p:sp>
      </p:grpSp>
      <p:grpSp>
        <p:nvGrpSpPr>
          <p:cNvPr id="30" name="Group 29">
            <a:extLst>
              <a:ext uri="{FF2B5EF4-FFF2-40B4-BE49-F238E27FC236}">
                <a16:creationId xmlns:a16="http://schemas.microsoft.com/office/drawing/2014/main" id="{6CA39A9E-93D7-7790-CA51-9054031E9A54}"/>
              </a:ext>
            </a:extLst>
          </p:cNvPr>
          <p:cNvGrpSpPr/>
          <p:nvPr/>
        </p:nvGrpSpPr>
        <p:grpSpPr>
          <a:xfrm>
            <a:off x="6126480" y="3063240"/>
            <a:ext cx="5669280" cy="3108960"/>
            <a:chOff x="6126480" y="3794760"/>
            <a:chExt cx="5669280" cy="2514600"/>
          </a:xfrm>
        </p:grpSpPr>
        <p:sp>
          <p:nvSpPr>
            <p:cNvPr id="23" name="Shape 21"/>
            <p:cNvSpPr/>
            <p:nvPr/>
          </p:nvSpPr>
          <p:spPr>
            <a:xfrm>
              <a:off x="6126480" y="3794760"/>
              <a:ext cx="5669280" cy="251460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24" name="Text 22"/>
            <p:cNvSpPr/>
            <p:nvPr/>
          </p:nvSpPr>
          <p:spPr>
            <a:xfrm>
              <a:off x="6263640" y="3886200"/>
              <a:ext cx="5394960" cy="365760"/>
            </a:xfrm>
            <a:prstGeom prst="rect">
              <a:avLst/>
            </a:prstGeom>
            <a:noFill/>
            <a:ln/>
          </p:spPr>
          <p:txBody>
            <a:bodyPr wrap="square" rtlCol="0" anchor="ctr"/>
            <a:lstStyle/>
            <a:p>
              <a:pPr marL="0" indent="0">
                <a:buNone/>
              </a:pPr>
              <a:r>
                <a:rPr lang="en-US" sz="1400" b="1" dirty="0">
                  <a:solidFill>
                    <a:srgbClr val="105000"/>
                  </a:solidFill>
                  <a:latin typeface="Calibri" pitchFamily="34" charset="0"/>
                  <a:ea typeface="Calibri" pitchFamily="34" charset="-122"/>
                  <a:cs typeface="Calibri" pitchFamily="34" charset="-120"/>
                </a:rPr>
                <a:t>Most Important Finding</a:t>
              </a:r>
              <a:endParaRPr lang="en-US" sz="1400" dirty="0"/>
            </a:p>
          </p:txBody>
        </p:sp>
        <p:sp>
          <p:nvSpPr>
            <p:cNvPr id="25" name="Text 23"/>
            <p:cNvSpPr/>
            <p:nvPr/>
          </p:nvSpPr>
          <p:spPr>
            <a:xfrm>
              <a:off x="6263640" y="4251960"/>
              <a:ext cx="5394960" cy="19202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Standard sentiment tools underestimate positivity in specialized communities. </a:t>
              </a:r>
              <a:endParaRPr lang="en-US" sz="1300" dirty="0"/>
            </a:p>
            <a:p>
              <a:pPr marL="0" indent="0">
                <a:buNone/>
              </a:pPr>
              <a:r>
                <a:rPr lang="en-US" sz="1300" dirty="0">
                  <a:solidFill>
                    <a:srgbClr val="1A1A1A"/>
                  </a:solidFill>
                  <a:latin typeface="Calibri" pitchFamily="34" charset="0"/>
                  <a:ea typeface="Calibri" pitchFamily="34" charset="-122"/>
                  <a:cs typeface="Calibri" pitchFamily="34" charset="-120"/>
                </a:rPr>
                <a:t>r/weightlifting sentiment increased by </a:t>
              </a:r>
              <a:r>
                <a:rPr lang="en-US" sz="1300" b="1" dirty="0">
                  <a:solidFill>
                    <a:srgbClr val="105000"/>
                  </a:solidFill>
                  <a:latin typeface="Calibri" pitchFamily="34" charset="0"/>
                  <a:ea typeface="Calibri" pitchFamily="34" charset="-122"/>
                  <a:cs typeface="Calibri" pitchFamily="34" charset="-120"/>
                </a:rPr>
                <a:t>39%</a:t>
              </a:r>
              <a:r>
                <a:rPr lang="en-US" sz="1300" dirty="0">
                  <a:solidFill>
                    <a:srgbClr val="1A1A1A"/>
                  </a:solidFill>
                  <a:latin typeface="Calibri" pitchFamily="34" charset="0"/>
                  <a:ea typeface="Calibri" pitchFamily="34" charset="-122"/>
                  <a:cs typeface="Calibri" pitchFamily="34" charset="-120"/>
                </a:rPr>
                <a:t> when gym-specific slang was correctly scored, while r/fitness was completely unaffected. This confirmed the hypotheses that topic specific lexicons are needed for accurate NLP analysis of niche online communities.</a:t>
              </a:r>
              <a:endParaRPr lang="en-US" sz="13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105000"/>
          </a:solidFill>
          <a:ln w="12700">
            <a:solidFill>
              <a:srgbClr val="105000"/>
            </a:solidFill>
            <a:prstDash val="solid"/>
          </a:ln>
        </p:spPr>
        <p:txBody>
          <a:bodyPr/>
          <a:lstStyle/>
          <a:p>
            <a:endParaRPr lang="en-US"/>
          </a:p>
        </p:txBody>
      </p:sp>
      <p:sp>
        <p:nvSpPr>
          <p:cNvPr id="3" name="Text 1"/>
          <p:cNvSpPr/>
          <p:nvPr/>
        </p:nvSpPr>
        <p:spPr>
          <a:xfrm>
            <a:off x="365760" y="0"/>
            <a:ext cx="9601200" cy="7772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Raw Data</a:t>
            </a:r>
            <a:endParaRPr lang="en-US" sz="2600" dirty="0"/>
          </a:p>
        </p:txBody>
      </p:sp>
      <p:sp>
        <p:nvSpPr>
          <p:cNvPr id="4" name="Text 2"/>
          <p:cNvSpPr/>
          <p:nvPr/>
        </p:nvSpPr>
        <p:spPr>
          <a:xfrm>
            <a:off x="0" y="6583680"/>
            <a:ext cx="12161520" cy="27432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Northwest Missouri State University  |  Web Mining Final Project</a:t>
            </a:r>
            <a:endParaRPr lang="en-US" sz="900" dirty="0"/>
          </a:p>
        </p:txBody>
      </p:sp>
      <p:sp>
        <p:nvSpPr>
          <p:cNvPr id="5" name="Shape 3"/>
          <p:cNvSpPr/>
          <p:nvPr/>
        </p:nvSpPr>
        <p:spPr>
          <a:xfrm>
            <a:off x="365760" y="914400"/>
            <a:ext cx="5303520" cy="530352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dirty="0"/>
          </a:p>
        </p:txBody>
      </p:sp>
      <p:sp>
        <p:nvSpPr>
          <p:cNvPr id="6" name="Shape 4"/>
          <p:cNvSpPr/>
          <p:nvPr/>
        </p:nvSpPr>
        <p:spPr>
          <a:xfrm>
            <a:off x="365760" y="914400"/>
            <a:ext cx="5303520" cy="457200"/>
          </a:xfrm>
          <a:prstGeom prst="rect">
            <a:avLst/>
          </a:prstGeom>
          <a:solidFill>
            <a:srgbClr val="105000"/>
          </a:solidFill>
          <a:ln w="12700">
            <a:solidFill>
              <a:srgbClr val="105000"/>
            </a:solidFill>
            <a:prstDash val="solid"/>
          </a:ln>
        </p:spPr>
        <p:txBody>
          <a:bodyPr/>
          <a:lstStyle/>
          <a:p>
            <a:endParaRPr lang="en-US"/>
          </a:p>
        </p:txBody>
      </p:sp>
      <p:sp>
        <p:nvSpPr>
          <p:cNvPr id="7" name="Text 5"/>
          <p:cNvSpPr/>
          <p:nvPr/>
        </p:nvSpPr>
        <p:spPr>
          <a:xfrm>
            <a:off x="502920" y="914400"/>
            <a:ext cx="50292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Where &amp; How</a:t>
            </a:r>
            <a:endParaRPr lang="en-US" sz="1500" dirty="0"/>
          </a:p>
        </p:txBody>
      </p:sp>
      <p:sp>
        <p:nvSpPr>
          <p:cNvPr id="8" name="Text 6"/>
          <p:cNvSpPr/>
          <p:nvPr/>
        </p:nvSpPr>
        <p:spPr>
          <a:xfrm>
            <a:off x="502920" y="1937856"/>
            <a:ext cx="5029200" cy="4097183"/>
          </a:xfrm>
          <a:prstGeom prst="rect">
            <a:avLst/>
          </a:prstGeom>
          <a:noFill/>
          <a:ln/>
        </p:spPr>
        <p:txBody>
          <a:bodyPr wrap="square" rtlCol="0" anchor="ctr"/>
          <a:lstStyle/>
          <a:p>
            <a:pPr marL="0" indent="0">
              <a:buNone/>
            </a:pPr>
            <a:r>
              <a:rPr lang="en-US" sz="1300" b="1" dirty="0">
                <a:solidFill>
                  <a:srgbClr val="105000"/>
                </a:solidFill>
                <a:latin typeface="Calibri" pitchFamily="34" charset="0"/>
                <a:ea typeface="Calibri" pitchFamily="34" charset="-122"/>
                <a:cs typeface="Calibri" pitchFamily="34" charset="-120"/>
              </a:rPr>
              <a:t>Source
</a:t>
            </a:r>
            <a:r>
              <a:rPr lang="en-US" sz="1300" dirty="0">
                <a:solidFill>
                  <a:srgbClr val="1A1A1A"/>
                </a:solidFill>
                <a:latin typeface="Calibri" pitchFamily="34" charset="0"/>
                <a:ea typeface="Calibri" pitchFamily="34" charset="-122"/>
                <a:cs typeface="Calibri" pitchFamily="34" charset="-120"/>
              </a:rPr>
              <a:t>Reddit public JSON API — no API key required. Data was fetched directly from Reddit's publicly accessible endpoints using Python's requests library.
</a:t>
            </a:r>
            <a:r>
              <a:rPr lang="en-US" sz="1300" b="1" dirty="0">
                <a:solidFill>
                  <a:srgbClr val="105000"/>
                </a:solidFill>
                <a:latin typeface="Calibri" pitchFamily="34" charset="0"/>
                <a:ea typeface="Calibri" pitchFamily="34" charset="-122"/>
                <a:cs typeface="Calibri" pitchFamily="34" charset="-120"/>
              </a:rPr>
              <a:t>Subreddits
</a:t>
            </a:r>
            <a:r>
              <a:rPr lang="en-US" sz="1300" dirty="0">
                <a:solidFill>
                  <a:srgbClr val="1A1A1A"/>
                </a:solidFill>
                <a:latin typeface="Calibri" pitchFamily="34" charset="0"/>
                <a:ea typeface="Calibri" pitchFamily="34" charset="-122"/>
                <a:cs typeface="Calibri" pitchFamily="34" charset="-120"/>
              </a:rPr>
              <a:t>r/fitness  (general fitness community)
r/weightlifting  (Olympic lifting specialists)
</a:t>
            </a:r>
            <a:r>
              <a:rPr lang="en-US" sz="1300" b="1" dirty="0">
                <a:solidFill>
                  <a:srgbClr val="105000"/>
                </a:solidFill>
                <a:latin typeface="Calibri" pitchFamily="34" charset="0"/>
                <a:ea typeface="Calibri" pitchFamily="34" charset="-122"/>
                <a:cs typeface="Calibri" pitchFamily="34" charset="-120"/>
              </a:rPr>
              <a:t>Extraction Method
</a:t>
            </a:r>
            <a:r>
              <a:rPr lang="en-US" sz="1300" dirty="0">
                <a:solidFill>
                  <a:srgbClr val="1A1A1A"/>
                </a:solidFill>
                <a:latin typeface="Calibri" pitchFamily="34" charset="0"/>
                <a:ea typeface="Calibri" pitchFamily="34" charset="-122"/>
                <a:cs typeface="Calibri" pitchFamily="34" charset="-120"/>
              </a:rPr>
              <a:t>Reddit returns results in pages of 25 posts. The scraper looped through pages using pagination cursors, collecting top posts from the past year. Comments were fetched per post using the same JSON endpoint.</a:t>
            </a:r>
            <a:endParaRPr lang="en-US" sz="1300" dirty="0"/>
          </a:p>
        </p:txBody>
      </p:sp>
      <p:sp>
        <p:nvSpPr>
          <p:cNvPr id="9" name="Shape 7"/>
          <p:cNvSpPr/>
          <p:nvPr/>
        </p:nvSpPr>
        <p:spPr>
          <a:xfrm>
            <a:off x="6035040" y="914400"/>
            <a:ext cx="5760720" cy="530352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6035040" y="914400"/>
            <a:ext cx="5760720" cy="457200"/>
          </a:xfrm>
          <a:prstGeom prst="rect">
            <a:avLst/>
          </a:prstGeom>
          <a:solidFill>
            <a:srgbClr val="105000"/>
          </a:solidFill>
          <a:ln w="12700">
            <a:solidFill>
              <a:srgbClr val="105000"/>
            </a:solidFill>
            <a:prstDash val="solid"/>
          </a:ln>
        </p:spPr>
        <p:txBody>
          <a:bodyPr/>
          <a:lstStyle/>
          <a:p>
            <a:endParaRPr lang="en-US"/>
          </a:p>
        </p:txBody>
      </p:sp>
      <p:sp>
        <p:nvSpPr>
          <p:cNvPr id="11" name="Text 9"/>
          <p:cNvSpPr/>
          <p:nvPr/>
        </p:nvSpPr>
        <p:spPr>
          <a:xfrm>
            <a:off x="6172200" y="914400"/>
            <a:ext cx="54864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 Available</a:t>
            </a:r>
            <a:endParaRPr lang="en-US" sz="1500" dirty="0"/>
          </a:p>
        </p:txBody>
      </p:sp>
      <p:sp>
        <p:nvSpPr>
          <p:cNvPr id="12" name="Shape 10"/>
          <p:cNvSpPr/>
          <p:nvPr/>
        </p:nvSpPr>
        <p:spPr>
          <a:xfrm>
            <a:off x="6126480" y="1508760"/>
            <a:ext cx="54864" cy="502920"/>
          </a:xfrm>
          <a:prstGeom prst="rect">
            <a:avLst/>
          </a:prstGeom>
          <a:solidFill>
            <a:srgbClr val="105000"/>
          </a:solidFill>
          <a:ln w="12700">
            <a:solidFill>
              <a:srgbClr val="105000"/>
            </a:solidFill>
            <a:prstDash val="solid"/>
          </a:ln>
        </p:spPr>
        <p:txBody>
          <a:bodyPr/>
          <a:lstStyle/>
          <a:p>
            <a:endParaRPr lang="en-US"/>
          </a:p>
        </p:txBody>
      </p:sp>
      <p:sp>
        <p:nvSpPr>
          <p:cNvPr id="13" name="Text 11"/>
          <p:cNvSpPr/>
          <p:nvPr/>
        </p:nvSpPr>
        <p:spPr>
          <a:xfrm>
            <a:off x="6263640" y="1508760"/>
            <a:ext cx="1828800" cy="25603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Post Title</a:t>
            </a:r>
            <a:endParaRPr lang="en-US" sz="1300" dirty="0"/>
          </a:p>
        </p:txBody>
      </p:sp>
      <p:sp>
        <p:nvSpPr>
          <p:cNvPr id="14" name="Text 12"/>
          <p:cNvSpPr/>
          <p:nvPr/>
        </p:nvSpPr>
        <p:spPr>
          <a:xfrm>
            <a:off x="6263640" y="1755648"/>
            <a:ext cx="5394960" cy="25603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Primary text for sentiment &amp; TF-IDF analysis</a:t>
            </a:r>
            <a:endParaRPr lang="en-US" sz="1200" dirty="0"/>
          </a:p>
        </p:txBody>
      </p:sp>
      <p:sp>
        <p:nvSpPr>
          <p:cNvPr id="15" name="Shape 13"/>
          <p:cNvSpPr/>
          <p:nvPr/>
        </p:nvSpPr>
        <p:spPr>
          <a:xfrm>
            <a:off x="6126480" y="2240280"/>
            <a:ext cx="54864" cy="502920"/>
          </a:xfrm>
          <a:prstGeom prst="rect">
            <a:avLst/>
          </a:prstGeom>
          <a:solidFill>
            <a:srgbClr val="105000"/>
          </a:solidFill>
          <a:ln w="12700">
            <a:solidFill>
              <a:srgbClr val="105000"/>
            </a:solidFill>
            <a:prstDash val="solid"/>
          </a:ln>
        </p:spPr>
        <p:txBody>
          <a:bodyPr/>
          <a:lstStyle/>
          <a:p>
            <a:endParaRPr lang="en-US"/>
          </a:p>
        </p:txBody>
      </p:sp>
      <p:sp>
        <p:nvSpPr>
          <p:cNvPr id="16" name="Text 14"/>
          <p:cNvSpPr/>
          <p:nvPr/>
        </p:nvSpPr>
        <p:spPr>
          <a:xfrm>
            <a:off x="6263640" y="2240280"/>
            <a:ext cx="1828800" cy="25603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Post Body</a:t>
            </a:r>
            <a:endParaRPr lang="en-US" sz="1300" dirty="0"/>
          </a:p>
        </p:txBody>
      </p:sp>
      <p:sp>
        <p:nvSpPr>
          <p:cNvPr id="17" name="Text 15"/>
          <p:cNvSpPr/>
          <p:nvPr/>
        </p:nvSpPr>
        <p:spPr>
          <a:xfrm>
            <a:off x="6263640" y="2487168"/>
            <a:ext cx="5394960" cy="25603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Extended content, cleaned and tokenized</a:t>
            </a:r>
            <a:endParaRPr lang="en-US" sz="1200" dirty="0"/>
          </a:p>
        </p:txBody>
      </p:sp>
      <p:sp>
        <p:nvSpPr>
          <p:cNvPr id="18" name="Shape 16"/>
          <p:cNvSpPr/>
          <p:nvPr/>
        </p:nvSpPr>
        <p:spPr>
          <a:xfrm>
            <a:off x="6126480" y="2971800"/>
            <a:ext cx="54864" cy="502920"/>
          </a:xfrm>
          <a:prstGeom prst="rect">
            <a:avLst/>
          </a:prstGeom>
          <a:solidFill>
            <a:srgbClr val="105000"/>
          </a:solidFill>
          <a:ln w="12700">
            <a:solidFill>
              <a:srgbClr val="105000"/>
            </a:solidFill>
            <a:prstDash val="solid"/>
          </a:ln>
        </p:spPr>
        <p:txBody>
          <a:bodyPr/>
          <a:lstStyle/>
          <a:p>
            <a:endParaRPr lang="en-US"/>
          </a:p>
        </p:txBody>
      </p:sp>
      <p:sp>
        <p:nvSpPr>
          <p:cNvPr id="19" name="Text 17"/>
          <p:cNvSpPr/>
          <p:nvPr/>
        </p:nvSpPr>
        <p:spPr>
          <a:xfrm>
            <a:off x="6263640" y="2971800"/>
            <a:ext cx="1828800" cy="25603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Timestamp</a:t>
            </a:r>
            <a:endParaRPr lang="en-US" sz="1300" dirty="0"/>
          </a:p>
        </p:txBody>
      </p:sp>
      <p:sp>
        <p:nvSpPr>
          <p:cNvPr id="20" name="Text 18"/>
          <p:cNvSpPr/>
          <p:nvPr/>
        </p:nvSpPr>
        <p:spPr>
          <a:xfrm>
            <a:off x="6263640" y="3218688"/>
            <a:ext cx="5394960" cy="25603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Converted to date/month for seasonal analysis</a:t>
            </a:r>
            <a:endParaRPr lang="en-US" sz="1200" dirty="0"/>
          </a:p>
        </p:txBody>
      </p:sp>
      <p:sp>
        <p:nvSpPr>
          <p:cNvPr id="21" name="Shape 19"/>
          <p:cNvSpPr/>
          <p:nvPr/>
        </p:nvSpPr>
        <p:spPr>
          <a:xfrm>
            <a:off x="6126480" y="3703320"/>
            <a:ext cx="54864" cy="502920"/>
          </a:xfrm>
          <a:prstGeom prst="rect">
            <a:avLst/>
          </a:prstGeom>
          <a:solidFill>
            <a:srgbClr val="105000"/>
          </a:solidFill>
          <a:ln w="12700">
            <a:solidFill>
              <a:srgbClr val="105000"/>
            </a:solidFill>
            <a:prstDash val="solid"/>
          </a:ln>
        </p:spPr>
        <p:txBody>
          <a:bodyPr/>
          <a:lstStyle/>
          <a:p>
            <a:endParaRPr lang="en-US"/>
          </a:p>
        </p:txBody>
      </p:sp>
      <p:sp>
        <p:nvSpPr>
          <p:cNvPr id="22" name="Text 20"/>
          <p:cNvSpPr/>
          <p:nvPr/>
        </p:nvSpPr>
        <p:spPr>
          <a:xfrm>
            <a:off x="6263640" y="3703320"/>
            <a:ext cx="1828800" cy="25603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Upvote Score</a:t>
            </a:r>
            <a:endParaRPr lang="en-US" sz="1300" dirty="0"/>
          </a:p>
        </p:txBody>
      </p:sp>
      <p:sp>
        <p:nvSpPr>
          <p:cNvPr id="23" name="Text 21"/>
          <p:cNvSpPr/>
          <p:nvPr/>
        </p:nvSpPr>
        <p:spPr>
          <a:xfrm>
            <a:off x="6263640" y="3950208"/>
            <a:ext cx="5394960" cy="25603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Engagement weight (used as stretch goal)</a:t>
            </a:r>
            <a:endParaRPr lang="en-US" sz="1200" dirty="0"/>
          </a:p>
        </p:txBody>
      </p:sp>
      <p:sp>
        <p:nvSpPr>
          <p:cNvPr id="24" name="Shape 22"/>
          <p:cNvSpPr/>
          <p:nvPr/>
        </p:nvSpPr>
        <p:spPr>
          <a:xfrm>
            <a:off x="6126480" y="4434840"/>
            <a:ext cx="54864" cy="502920"/>
          </a:xfrm>
          <a:prstGeom prst="rect">
            <a:avLst/>
          </a:prstGeom>
          <a:solidFill>
            <a:srgbClr val="105000"/>
          </a:solidFill>
          <a:ln w="12700">
            <a:solidFill>
              <a:srgbClr val="105000"/>
            </a:solidFill>
            <a:prstDash val="solid"/>
          </a:ln>
        </p:spPr>
        <p:txBody>
          <a:bodyPr/>
          <a:lstStyle/>
          <a:p>
            <a:endParaRPr lang="en-US"/>
          </a:p>
        </p:txBody>
      </p:sp>
      <p:sp>
        <p:nvSpPr>
          <p:cNvPr id="25" name="Text 23"/>
          <p:cNvSpPr/>
          <p:nvPr/>
        </p:nvSpPr>
        <p:spPr>
          <a:xfrm>
            <a:off x="6263640" y="4434840"/>
            <a:ext cx="1828800" cy="25603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Comment Count</a:t>
            </a:r>
            <a:endParaRPr lang="en-US" sz="1300" dirty="0"/>
          </a:p>
        </p:txBody>
      </p:sp>
      <p:sp>
        <p:nvSpPr>
          <p:cNvPr id="26" name="Text 24"/>
          <p:cNvSpPr/>
          <p:nvPr/>
        </p:nvSpPr>
        <p:spPr>
          <a:xfrm>
            <a:off x="6263640" y="4681728"/>
            <a:ext cx="5394960" cy="25603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Volume of discussion per post</a:t>
            </a:r>
            <a:endParaRPr lang="en-US" sz="1200" dirty="0"/>
          </a:p>
        </p:txBody>
      </p:sp>
      <p:sp>
        <p:nvSpPr>
          <p:cNvPr id="27" name="Shape 25"/>
          <p:cNvSpPr/>
          <p:nvPr/>
        </p:nvSpPr>
        <p:spPr>
          <a:xfrm>
            <a:off x="6126480" y="5166360"/>
            <a:ext cx="54864" cy="502920"/>
          </a:xfrm>
          <a:prstGeom prst="rect">
            <a:avLst/>
          </a:prstGeom>
          <a:solidFill>
            <a:srgbClr val="105000"/>
          </a:solidFill>
          <a:ln w="12700">
            <a:solidFill>
              <a:srgbClr val="105000"/>
            </a:solidFill>
            <a:prstDash val="solid"/>
          </a:ln>
        </p:spPr>
        <p:txBody>
          <a:bodyPr/>
          <a:lstStyle/>
          <a:p>
            <a:endParaRPr lang="en-US"/>
          </a:p>
        </p:txBody>
      </p:sp>
      <p:sp>
        <p:nvSpPr>
          <p:cNvPr id="28" name="Text 26"/>
          <p:cNvSpPr/>
          <p:nvPr/>
        </p:nvSpPr>
        <p:spPr>
          <a:xfrm>
            <a:off x="6263640" y="5166360"/>
            <a:ext cx="1828800" cy="25603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Top Comments</a:t>
            </a:r>
            <a:endParaRPr lang="en-US" sz="1300" dirty="0"/>
          </a:p>
        </p:txBody>
      </p:sp>
      <p:sp>
        <p:nvSpPr>
          <p:cNvPr id="29" name="Text 27"/>
          <p:cNvSpPr/>
          <p:nvPr/>
        </p:nvSpPr>
        <p:spPr>
          <a:xfrm>
            <a:off x="6263640" y="5413248"/>
            <a:ext cx="5394960" cy="25603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10 top-level comments per post collected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105000"/>
          </a:solidFill>
          <a:ln w="12700">
            <a:solidFill>
              <a:srgbClr val="105000"/>
            </a:solidFill>
            <a:prstDash val="solid"/>
          </a:ln>
        </p:spPr>
        <p:txBody>
          <a:bodyPr/>
          <a:lstStyle/>
          <a:p>
            <a:endParaRPr lang="en-US"/>
          </a:p>
        </p:txBody>
      </p:sp>
      <p:sp>
        <p:nvSpPr>
          <p:cNvPr id="3" name="Text 1"/>
          <p:cNvSpPr/>
          <p:nvPr/>
        </p:nvSpPr>
        <p:spPr>
          <a:xfrm>
            <a:off x="365760" y="0"/>
            <a:ext cx="9601200" cy="7772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Processing &amp; Statistics</a:t>
            </a:r>
            <a:endParaRPr lang="en-US" sz="2600" dirty="0"/>
          </a:p>
        </p:txBody>
      </p:sp>
      <p:sp>
        <p:nvSpPr>
          <p:cNvPr id="4" name="Text 2"/>
          <p:cNvSpPr/>
          <p:nvPr/>
        </p:nvSpPr>
        <p:spPr>
          <a:xfrm>
            <a:off x="0" y="6583680"/>
            <a:ext cx="12161520" cy="27432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Northwest Missouri State University  |  Web Mining Final Project</a:t>
            </a:r>
            <a:endParaRPr lang="en-US" sz="900" dirty="0"/>
          </a:p>
        </p:txBody>
      </p:sp>
      <p:sp>
        <p:nvSpPr>
          <p:cNvPr id="5" name="Shape 3"/>
          <p:cNvSpPr/>
          <p:nvPr/>
        </p:nvSpPr>
        <p:spPr>
          <a:xfrm>
            <a:off x="365760" y="914400"/>
            <a:ext cx="5486400" cy="384048"/>
          </a:xfrm>
          <a:prstGeom prst="rect">
            <a:avLst/>
          </a:prstGeom>
          <a:solidFill>
            <a:srgbClr val="105000"/>
          </a:solidFill>
          <a:ln w="12700">
            <a:solidFill>
              <a:srgbClr val="105000"/>
            </a:solidFill>
            <a:prstDash val="solid"/>
          </a:ln>
        </p:spPr>
        <p:txBody>
          <a:bodyPr/>
          <a:lstStyle/>
          <a:p>
            <a:endParaRPr lang="en-US"/>
          </a:p>
        </p:txBody>
      </p:sp>
      <p:sp>
        <p:nvSpPr>
          <p:cNvPr id="6" name="Text 4"/>
          <p:cNvSpPr/>
          <p:nvPr/>
        </p:nvSpPr>
        <p:spPr>
          <a:xfrm>
            <a:off x="502920" y="914400"/>
            <a:ext cx="53035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Processing Steps</a:t>
            </a:r>
            <a:endParaRPr lang="en-US" sz="1400" dirty="0"/>
          </a:p>
        </p:txBody>
      </p:sp>
      <p:sp>
        <p:nvSpPr>
          <p:cNvPr id="7" name="Shape 5"/>
          <p:cNvSpPr/>
          <p:nvPr/>
        </p:nvSpPr>
        <p:spPr>
          <a:xfrm>
            <a:off x="6309360" y="914400"/>
            <a:ext cx="5486400" cy="384048"/>
          </a:xfrm>
          <a:prstGeom prst="rect">
            <a:avLst/>
          </a:prstGeom>
          <a:solidFill>
            <a:srgbClr val="105000"/>
          </a:solidFill>
          <a:ln w="12700">
            <a:solidFill>
              <a:srgbClr val="105000"/>
            </a:solidFill>
            <a:prstDash val="solid"/>
          </a:ln>
        </p:spPr>
        <p:txBody>
          <a:bodyPr/>
          <a:lstStyle/>
          <a:p>
            <a:endParaRPr lang="en-US"/>
          </a:p>
        </p:txBody>
      </p:sp>
      <p:sp>
        <p:nvSpPr>
          <p:cNvPr id="8" name="Text 6"/>
          <p:cNvSpPr/>
          <p:nvPr/>
        </p:nvSpPr>
        <p:spPr>
          <a:xfrm>
            <a:off x="6446520" y="914400"/>
            <a:ext cx="53035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Statistics Examined</a:t>
            </a:r>
            <a:endParaRPr lang="en-US" sz="1400" dirty="0"/>
          </a:p>
        </p:txBody>
      </p:sp>
      <p:sp>
        <p:nvSpPr>
          <p:cNvPr id="9" name="Shape 7"/>
          <p:cNvSpPr/>
          <p:nvPr/>
        </p:nvSpPr>
        <p:spPr>
          <a:xfrm>
            <a:off x="365760" y="1389888"/>
            <a:ext cx="5486400" cy="987552"/>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365760" y="1389888"/>
            <a:ext cx="438912" cy="987552"/>
          </a:xfrm>
          <a:prstGeom prst="rect">
            <a:avLst/>
          </a:prstGeom>
          <a:solidFill>
            <a:srgbClr val="105000"/>
          </a:solidFill>
          <a:ln w="12700">
            <a:solidFill>
              <a:srgbClr val="105000"/>
            </a:solidFill>
            <a:prstDash val="solid"/>
          </a:ln>
        </p:spPr>
        <p:txBody>
          <a:bodyPr/>
          <a:lstStyle/>
          <a:p>
            <a:endParaRPr lang="en-US"/>
          </a:p>
        </p:txBody>
      </p:sp>
      <p:sp>
        <p:nvSpPr>
          <p:cNvPr id="11" name="Text 9"/>
          <p:cNvSpPr/>
          <p:nvPr/>
        </p:nvSpPr>
        <p:spPr>
          <a:xfrm>
            <a:off x="365760" y="1389888"/>
            <a:ext cx="438912" cy="9875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2" name="Text 10"/>
          <p:cNvSpPr/>
          <p:nvPr/>
        </p:nvSpPr>
        <p:spPr>
          <a:xfrm>
            <a:off x="886968" y="1463040"/>
            <a:ext cx="484632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Text Cleaning</a:t>
            </a:r>
            <a:endParaRPr lang="en-US" sz="1200" dirty="0"/>
          </a:p>
        </p:txBody>
      </p:sp>
      <p:sp>
        <p:nvSpPr>
          <p:cNvPr id="13" name="Text 11"/>
          <p:cNvSpPr/>
          <p:nvPr/>
        </p:nvSpPr>
        <p:spPr>
          <a:xfrm>
            <a:off x="886968" y="1728216"/>
            <a:ext cx="4846320" cy="5943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Lowercased text, removed URLs (regex), punctuation stripped, tokenized with NLTK, stopwords removed.</a:t>
            </a:r>
            <a:endParaRPr lang="en-US" sz="1100" dirty="0"/>
          </a:p>
        </p:txBody>
      </p:sp>
      <p:sp>
        <p:nvSpPr>
          <p:cNvPr id="14" name="Shape 12"/>
          <p:cNvSpPr/>
          <p:nvPr/>
        </p:nvSpPr>
        <p:spPr>
          <a:xfrm>
            <a:off x="365760" y="2468880"/>
            <a:ext cx="5486400" cy="987552"/>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365760" y="2468880"/>
            <a:ext cx="438912" cy="987552"/>
          </a:xfrm>
          <a:prstGeom prst="rect">
            <a:avLst/>
          </a:prstGeom>
          <a:solidFill>
            <a:srgbClr val="105000"/>
          </a:solidFill>
          <a:ln w="12700">
            <a:solidFill>
              <a:srgbClr val="105000"/>
            </a:solidFill>
            <a:prstDash val="solid"/>
          </a:ln>
        </p:spPr>
        <p:txBody>
          <a:bodyPr/>
          <a:lstStyle/>
          <a:p>
            <a:endParaRPr lang="en-US"/>
          </a:p>
        </p:txBody>
      </p:sp>
      <p:sp>
        <p:nvSpPr>
          <p:cNvPr id="16" name="Text 14"/>
          <p:cNvSpPr/>
          <p:nvPr/>
        </p:nvSpPr>
        <p:spPr>
          <a:xfrm>
            <a:off x="365760" y="2468880"/>
            <a:ext cx="438912" cy="9875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7" name="Text 15"/>
          <p:cNvSpPr/>
          <p:nvPr/>
        </p:nvSpPr>
        <p:spPr>
          <a:xfrm>
            <a:off x="886968" y="2542032"/>
            <a:ext cx="484632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Custom Gym Lexicon</a:t>
            </a:r>
            <a:endParaRPr lang="en-US" sz="1200" dirty="0"/>
          </a:p>
        </p:txBody>
      </p:sp>
      <p:sp>
        <p:nvSpPr>
          <p:cNvPr id="18" name="Text 16"/>
          <p:cNvSpPr/>
          <p:nvPr/>
        </p:nvSpPr>
        <p:spPr>
          <a:xfrm>
            <a:off x="886968" y="2807208"/>
            <a:ext cx="4846320" cy="5943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15 gym-specific terms overriding VADER scores. E.g. 'brutal' +3.0,  'plateau' -2.0.</a:t>
            </a:r>
            <a:endParaRPr lang="en-US" sz="1100" dirty="0"/>
          </a:p>
        </p:txBody>
      </p:sp>
      <p:sp>
        <p:nvSpPr>
          <p:cNvPr id="19" name="Shape 17"/>
          <p:cNvSpPr/>
          <p:nvPr/>
        </p:nvSpPr>
        <p:spPr>
          <a:xfrm>
            <a:off x="365760" y="3547872"/>
            <a:ext cx="5486400" cy="987552"/>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20" name="Shape 18"/>
          <p:cNvSpPr/>
          <p:nvPr/>
        </p:nvSpPr>
        <p:spPr>
          <a:xfrm>
            <a:off x="365760" y="3547872"/>
            <a:ext cx="438912" cy="987552"/>
          </a:xfrm>
          <a:prstGeom prst="rect">
            <a:avLst/>
          </a:prstGeom>
          <a:solidFill>
            <a:srgbClr val="105000"/>
          </a:solidFill>
          <a:ln w="12700">
            <a:solidFill>
              <a:srgbClr val="105000"/>
            </a:solidFill>
            <a:prstDash val="solid"/>
          </a:ln>
        </p:spPr>
        <p:txBody>
          <a:bodyPr/>
          <a:lstStyle/>
          <a:p>
            <a:endParaRPr lang="en-US"/>
          </a:p>
        </p:txBody>
      </p:sp>
      <p:sp>
        <p:nvSpPr>
          <p:cNvPr id="21" name="Text 19"/>
          <p:cNvSpPr/>
          <p:nvPr/>
        </p:nvSpPr>
        <p:spPr>
          <a:xfrm>
            <a:off x="365760" y="3547872"/>
            <a:ext cx="438912" cy="9875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2" name="Text 20"/>
          <p:cNvSpPr/>
          <p:nvPr/>
        </p:nvSpPr>
        <p:spPr>
          <a:xfrm>
            <a:off x="886968" y="3621024"/>
            <a:ext cx="484632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Dual VADER Scoring</a:t>
            </a:r>
            <a:endParaRPr lang="en-US" sz="1200" dirty="0"/>
          </a:p>
        </p:txBody>
      </p:sp>
      <p:sp>
        <p:nvSpPr>
          <p:cNvPr id="23" name="Text 21"/>
          <p:cNvSpPr/>
          <p:nvPr/>
        </p:nvSpPr>
        <p:spPr>
          <a:xfrm>
            <a:off x="886968" y="3886200"/>
            <a:ext cx="4846320" cy="5943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Each post scored twice: standard and custom VADER. Delta column recorded the shift per post.</a:t>
            </a:r>
            <a:endParaRPr lang="en-US" sz="1100" dirty="0"/>
          </a:p>
        </p:txBody>
      </p:sp>
      <p:sp>
        <p:nvSpPr>
          <p:cNvPr id="24" name="Shape 22"/>
          <p:cNvSpPr/>
          <p:nvPr/>
        </p:nvSpPr>
        <p:spPr>
          <a:xfrm>
            <a:off x="365760" y="4626864"/>
            <a:ext cx="5486400" cy="987552"/>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25" name="Shape 23"/>
          <p:cNvSpPr/>
          <p:nvPr/>
        </p:nvSpPr>
        <p:spPr>
          <a:xfrm>
            <a:off x="365760" y="4626864"/>
            <a:ext cx="438912" cy="987552"/>
          </a:xfrm>
          <a:prstGeom prst="rect">
            <a:avLst/>
          </a:prstGeom>
          <a:solidFill>
            <a:srgbClr val="105000"/>
          </a:solidFill>
          <a:ln w="12700">
            <a:solidFill>
              <a:srgbClr val="105000"/>
            </a:solidFill>
            <a:prstDash val="solid"/>
          </a:ln>
        </p:spPr>
        <p:txBody>
          <a:bodyPr/>
          <a:lstStyle/>
          <a:p>
            <a:endParaRPr lang="en-US"/>
          </a:p>
        </p:txBody>
      </p:sp>
      <p:sp>
        <p:nvSpPr>
          <p:cNvPr id="26" name="Text 24"/>
          <p:cNvSpPr/>
          <p:nvPr/>
        </p:nvSpPr>
        <p:spPr>
          <a:xfrm>
            <a:off x="365760" y="4626864"/>
            <a:ext cx="438912" cy="9875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7" name="Text 25"/>
          <p:cNvSpPr/>
          <p:nvPr/>
        </p:nvSpPr>
        <p:spPr>
          <a:xfrm>
            <a:off x="886968" y="4700016"/>
            <a:ext cx="484632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TF-IDF Analysis</a:t>
            </a:r>
            <a:endParaRPr lang="en-US" sz="1200" dirty="0"/>
          </a:p>
        </p:txBody>
      </p:sp>
      <p:sp>
        <p:nvSpPr>
          <p:cNvPr id="28" name="Text 26"/>
          <p:cNvSpPr/>
          <p:nvPr/>
        </p:nvSpPr>
        <p:spPr>
          <a:xfrm>
            <a:off x="886968" y="4965192"/>
            <a:ext cx="4846320" cy="5943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TfidfVectorizer identified the most distinctively used terms per subreddit</a:t>
            </a:r>
            <a:endParaRPr lang="en-US" sz="1100" dirty="0"/>
          </a:p>
        </p:txBody>
      </p:sp>
      <p:sp>
        <p:nvSpPr>
          <p:cNvPr id="29" name="Shape 27"/>
          <p:cNvSpPr/>
          <p:nvPr/>
        </p:nvSpPr>
        <p:spPr>
          <a:xfrm>
            <a:off x="365760" y="5705856"/>
            <a:ext cx="5486400" cy="877824"/>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30" name="Shape 28"/>
          <p:cNvSpPr/>
          <p:nvPr/>
        </p:nvSpPr>
        <p:spPr>
          <a:xfrm>
            <a:off x="365760" y="5705856"/>
            <a:ext cx="438912" cy="877824"/>
          </a:xfrm>
          <a:prstGeom prst="rect">
            <a:avLst/>
          </a:prstGeom>
          <a:solidFill>
            <a:srgbClr val="105000"/>
          </a:solidFill>
          <a:ln w="12700">
            <a:solidFill>
              <a:srgbClr val="105000"/>
            </a:solidFill>
            <a:prstDash val="solid"/>
          </a:ln>
        </p:spPr>
        <p:txBody>
          <a:bodyPr/>
          <a:lstStyle/>
          <a:p>
            <a:endParaRPr lang="en-US"/>
          </a:p>
        </p:txBody>
      </p:sp>
      <p:sp>
        <p:nvSpPr>
          <p:cNvPr id="31" name="Text 29"/>
          <p:cNvSpPr/>
          <p:nvPr/>
        </p:nvSpPr>
        <p:spPr>
          <a:xfrm>
            <a:off x="365760" y="5705856"/>
            <a:ext cx="438912" cy="9875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2" name="Text 30"/>
          <p:cNvSpPr/>
          <p:nvPr/>
        </p:nvSpPr>
        <p:spPr>
          <a:xfrm>
            <a:off x="886968" y="5779008"/>
            <a:ext cx="484632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Monthly Grouping</a:t>
            </a:r>
            <a:endParaRPr lang="en-US" sz="1200" dirty="0"/>
          </a:p>
        </p:txBody>
      </p:sp>
      <p:sp>
        <p:nvSpPr>
          <p:cNvPr id="33" name="Text 31"/>
          <p:cNvSpPr/>
          <p:nvPr/>
        </p:nvSpPr>
        <p:spPr>
          <a:xfrm>
            <a:off x="886968" y="6044184"/>
            <a:ext cx="4846320" cy="5943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Posts grouped by UTC timestamp month to compute average sentiment trends across the year.</a:t>
            </a:r>
            <a:endParaRPr lang="en-US" sz="1100" dirty="0"/>
          </a:p>
        </p:txBody>
      </p:sp>
      <p:sp>
        <p:nvSpPr>
          <p:cNvPr id="34" name="Shape 32"/>
          <p:cNvSpPr/>
          <p:nvPr/>
        </p:nvSpPr>
        <p:spPr>
          <a:xfrm>
            <a:off x="6309360" y="1389888"/>
            <a:ext cx="5486400" cy="123444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35" name="Text 33"/>
          <p:cNvSpPr/>
          <p:nvPr/>
        </p:nvSpPr>
        <p:spPr>
          <a:xfrm>
            <a:off x="6446520" y="1481328"/>
            <a:ext cx="521208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VADER Compound Score</a:t>
            </a:r>
            <a:endParaRPr lang="en-US" sz="1200" dirty="0"/>
          </a:p>
        </p:txBody>
      </p:sp>
      <p:sp>
        <p:nvSpPr>
          <p:cNvPr id="36" name="Text 34"/>
          <p:cNvSpPr/>
          <p:nvPr/>
        </p:nvSpPr>
        <p:spPr>
          <a:xfrm>
            <a:off x="6446520" y="1737360"/>
            <a:ext cx="3291840" cy="7772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Primary sentiment score per post, ranging from -1 (most negative) to +1 (most positive). Computed under both standard Vader and custom gym lexicons.</a:t>
            </a:r>
            <a:endParaRPr lang="en-US" sz="1100" dirty="0"/>
          </a:p>
        </p:txBody>
      </p:sp>
      <p:sp>
        <p:nvSpPr>
          <p:cNvPr id="37" name="Text 35"/>
          <p:cNvSpPr/>
          <p:nvPr/>
        </p:nvSpPr>
        <p:spPr>
          <a:xfrm>
            <a:off x="9646920" y="1508760"/>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0.676</a:t>
            </a:r>
            <a:endParaRPr lang="en-US" sz="1300" dirty="0"/>
          </a:p>
        </p:txBody>
      </p:sp>
      <p:sp>
        <p:nvSpPr>
          <p:cNvPr id="38" name="Text 36"/>
          <p:cNvSpPr/>
          <p:nvPr/>
        </p:nvSpPr>
        <p:spPr>
          <a:xfrm>
            <a:off x="9646920" y="1755648"/>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r/fitness</a:t>
            </a:r>
            <a:endParaRPr lang="en-US" sz="900" dirty="0"/>
          </a:p>
        </p:txBody>
      </p:sp>
      <p:sp>
        <p:nvSpPr>
          <p:cNvPr id="39" name="Text 37"/>
          <p:cNvSpPr/>
          <p:nvPr/>
        </p:nvSpPr>
        <p:spPr>
          <a:xfrm>
            <a:off x="9646920" y="1965960"/>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0.199</a:t>
            </a:r>
            <a:endParaRPr lang="en-US" sz="1300" dirty="0"/>
          </a:p>
        </p:txBody>
      </p:sp>
      <p:sp>
        <p:nvSpPr>
          <p:cNvPr id="40" name="Text 38"/>
          <p:cNvSpPr/>
          <p:nvPr/>
        </p:nvSpPr>
        <p:spPr>
          <a:xfrm>
            <a:off x="9646920" y="2212848"/>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r/weightlifting std</a:t>
            </a:r>
            <a:endParaRPr lang="en-US" sz="900" dirty="0"/>
          </a:p>
        </p:txBody>
      </p:sp>
      <p:sp>
        <p:nvSpPr>
          <p:cNvPr id="41" name="Text 39"/>
          <p:cNvSpPr/>
          <p:nvPr/>
        </p:nvSpPr>
        <p:spPr>
          <a:xfrm>
            <a:off x="9646920" y="2377440"/>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0.277</a:t>
            </a:r>
            <a:endParaRPr lang="en-US" sz="1300" dirty="0"/>
          </a:p>
        </p:txBody>
      </p:sp>
      <p:sp>
        <p:nvSpPr>
          <p:cNvPr id="42" name="Text 40"/>
          <p:cNvSpPr/>
          <p:nvPr/>
        </p:nvSpPr>
        <p:spPr>
          <a:xfrm>
            <a:off x="9646920" y="2715768"/>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r/weightlifting custom</a:t>
            </a:r>
            <a:endParaRPr lang="en-US" sz="900" dirty="0"/>
          </a:p>
        </p:txBody>
      </p:sp>
      <p:sp>
        <p:nvSpPr>
          <p:cNvPr id="43" name="Shape 41"/>
          <p:cNvSpPr/>
          <p:nvPr/>
        </p:nvSpPr>
        <p:spPr>
          <a:xfrm>
            <a:off x="6309360" y="2743200"/>
            <a:ext cx="5486400" cy="123444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44" name="Text 42"/>
          <p:cNvSpPr/>
          <p:nvPr/>
        </p:nvSpPr>
        <p:spPr>
          <a:xfrm>
            <a:off x="6446520" y="2834640"/>
            <a:ext cx="521208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Sentiment Delta</a:t>
            </a:r>
            <a:endParaRPr lang="en-US" sz="1200" dirty="0"/>
          </a:p>
        </p:txBody>
      </p:sp>
      <p:sp>
        <p:nvSpPr>
          <p:cNvPr id="45" name="Text 43"/>
          <p:cNvSpPr/>
          <p:nvPr/>
        </p:nvSpPr>
        <p:spPr>
          <a:xfrm>
            <a:off x="6446520" y="3090672"/>
            <a:ext cx="3291840" cy="7772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Difference between custom and standard VADER scores per post. High delta = post contained gym slang being misread by standard VADER.</a:t>
            </a:r>
            <a:endParaRPr lang="en-US" sz="1100" dirty="0"/>
          </a:p>
        </p:txBody>
      </p:sp>
      <p:sp>
        <p:nvSpPr>
          <p:cNvPr id="46" name="Text 44"/>
          <p:cNvSpPr/>
          <p:nvPr/>
        </p:nvSpPr>
        <p:spPr>
          <a:xfrm>
            <a:off x="9646920" y="2907792"/>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1.40</a:t>
            </a:r>
            <a:endParaRPr lang="en-US" sz="1300" dirty="0"/>
          </a:p>
        </p:txBody>
      </p:sp>
      <p:sp>
        <p:nvSpPr>
          <p:cNvPr id="47" name="Text 45"/>
          <p:cNvSpPr/>
          <p:nvPr/>
        </p:nvSpPr>
        <p:spPr>
          <a:xfrm>
            <a:off x="9646920" y="3154680"/>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Max delta observed</a:t>
            </a:r>
            <a:endParaRPr lang="en-US" sz="900" dirty="0"/>
          </a:p>
        </p:txBody>
      </p:sp>
      <p:sp>
        <p:nvSpPr>
          <p:cNvPr id="48" name="Text 46"/>
          <p:cNvSpPr/>
          <p:nvPr/>
        </p:nvSpPr>
        <p:spPr>
          <a:xfrm>
            <a:off x="9646920" y="3364992"/>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+0.078</a:t>
            </a:r>
            <a:endParaRPr lang="en-US" sz="1300" dirty="0"/>
          </a:p>
        </p:txBody>
      </p:sp>
      <p:sp>
        <p:nvSpPr>
          <p:cNvPr id="49" name="Text 47"/>
          <p:cNvSpPr/>
          <p:nvPr/>
        </p:nvSpPr>
        <p:spPr>
          <a:xfrm>
            <a:off x="9646920" y="3611880"/>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Avg delta (weightlifting)</a:t>
            </a:r>
            <a:endParaRPr lang="en-US" sz="900" dirty="0"/>
          </a:p>
        </p:txBody>
      </p:sp>
      <p:sp>
        <p:nvSpPr>
          <p:cNvPr id="50" name="Shape 48"/>
          <p:cNvSpPr/>
          <p:nvPr/>
        </p:nvSpPr>
        <p:spPr>
          <a:xfrm>
            <a:off x="6309360" y="4096512"/>
            <a:ext cx="5486400" cy="123444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51" name="Text 49"/>
          <p:cNvSpPr/>
          <p:nvPr/>
        </p:nvSpPr>
        <p:spPr>
          <a:xfrm>
            <a:off x="6446520" y="4187952"/>
            <a:ext cx="521208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TF-IDF Score</a:t>
            </a:r>
            <a:endParaRPr lang="en-US" sz="1200" dirty="0"/>
          </a:p>
        </p:txBody>
      </p:sp>
      <p:sp>
        <p:nvSpPr>
          <p:cNvPr id="52" name="Text 50"/>
          <p:cNvSpPr/>
          <p:nvPr/>
        </p:nvSpPr>
        <p:spPr>
          <a:xfrm>
            <a:off x="6446520" y="4443984"/>
            <a:ext cx="3291840" cy="7772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Ranked the most distinctive terms per subreddit. Higher score = more uniquely important to that community vs. the other.</a:t>
            </a:r>
            <a:endParaRPr lang="en-US" sz="1100" dirty="0"/>
          </a:p>
        </p:txBody>
      </p:sp>
      <p:sp>
        <p:nvSpPr>
          <p:cNvPr id="53" name="Text 51"/>
          <p:cNvSpPr/>
          <p:nvPr/>
        </p:nvSpPr>
        <p:spPr>
          <a:xfrm>
            <a:off x="9646920" y="4261104"/>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questions</a:t>
            </a:r>
            <a:endParaRPr lang="en-US" sz="1300" dirty="0"/>
          </a:p>
        </p:txBody>
      </p:sp>
      <p:sp>
        <p:nvSpPr>
          <p:cNvPr id="54" name="Text 52"/>
          <p:cNvSpPr/>
          <p:nvPr/>
        </p:nvSpPr>
        <p:spPr>
          <a:xfrm>
            <a:off x="9646920" y="4507992"/>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Top r/fitness term</a:t>
            </a:r>
            <a:endParaRPr lang="en-US" sz="900" dirty="0"/>
          </a:p>
        </p:txBody>
      </p:sp>
      <p:sp>
        <p:nvSpPr>
          <p:cNvPr id="55" name="Text 53"/>
          <p:cNvSpPr/>
          <p:nvPr/>
        </p:nvSpPr>
        <p:spPr>
          <a:xfrm>
            <a:off x="9646920" y="4718304"/>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snatch</a:t>
            </a:r>
            <a:endParaRPr lang="en-US" sz="1300" dirty="0"/>
          </a:p>
        </p:txBody>
      </p:sp>
      <p:sp>
        <p:nvSpPr>
          <p:cNvPr id="56" name="Text 54"/>
          <p:cNvSpPr/>
          <p:nvPr/>
        </p:nvSpPr>
        <p:spPr>
          <a:xfrm>
            <a:off x="9646920" y="4965192"/>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Top r/weightlifting term</a:t>
            </a:r>
            <a:endParaRPr lang="en-US" sz="900" dirty="0"/>
          </a:p>
        </p:txBody>
      </p:sp>
      <p:sp>
        <p:nvSpPr>
          <p:cNvPr id="57" name="Shape 55"/>
          <p:cNvSpPr/>
          <p:nvPr/>
        </p:nvSpPr>
        <p:spPr>
          <a:xfrm>
            <a:off x="6309360" y="5449824"/>
            <a:ext cx="5486400" cy="1133856"/>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sp>
        <p:nvSpPr>
          <p:cNvPr id="58" name="Text 56"/>
          <p:cNvSpPr/>
          <p:nvPr/>
        </p:nvSpPr>
        <p:spPr>
          <a:xfrm>
            <a:off x="6446520" y="5541264"/>
            <a:ext cx="5212080" cy="274320"/>
          </a:xfrm>
          <a:prstGeom prst="rect">
            <a:avLst/>
          </a:prstGeom>
          <a:noFill/>
          <a:ln/>
        </p:spPr>
        <p:txBody>
          <a:bodyPr wrap="square" rtlCol="0" anchor="ctr"/>
          <a:lstStyle/>
          <a:p>
            <a:pPr marL="0" indent="0">
              <a:buNone/>
            </a:pPr>
            <a:r>
              <a:rPr lang="en-US" sz="1200" b="1" dirty="0">
                <a:solidFill>
                  <a:srgbClr val="105000"/>
                </a:solidFill>
                <a:latin typeface="Calibri" pitchFamily="34" charset="0"/>
                <a:ea typeface="Calibri" pitchFamily="34" charset="-122"/>
                <a:cs typeface="Calibri" pitchFamily="34" charset="-120"/>
              </a:rPr>
              <a:t>Monthly Average Sentiment</a:t>
            </a:r>
            <a:endParaRPr lang="en-US" sz="1200" dirty="0"/>
          </a:p>
        </p:txBody>
      </p:sp>
      <p:sp>
        <p:nvSpPr>
          <p:cNvPr id="59" name="Text 57"/>
          <p:cNvSpPr/>
          <p:nvPr/>
        </p:nvSpPr>
        <p:spPr>
          <a:xfrm>
            <a:off x="6446520" y="5797296"/>
            <a:ext cx="3291840" cy="7772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Average compound score grouped by calendar month for each subreddit, used to test the seasonal sentiment hypothesis.</a:t>
            </a:r>
            <a:endParaRPr lang="en-US" sz="1100" dirty="0"/>
          </a:p>
        </p:txBody>
      </p:sp>
      <p:sp>
        <p:nvSpPr>
          <p:cNvPr id="60" name="Text 58"/>
          <p:cNvSpPr/>
          <p:nvPr/>
        </p:nvSpPr>
        <p:spPr>
          <a:xfrm>
            <a:off x="9646920" y="5614416"/>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0.60 – 0.72</a:t>
            </a:r>
            <a:endParaRPr lang="en-US" sz="1300" dirty="0"/>
          </a:p>
        </p:txBody>
      </p:sp>
      <p:sp>
        <p:nvSpPr>
          <p:cNvPr id="61" name="Text 59"/>
          <p:cNvSpPr/>
          <p:nvPr/>
        </p:nvSpPr>
        <p:spPr>
          <a:xfrm>
            <a:off x="9646920" y="5861304"/>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r/fitness range</a:t>
            </a:r>
            <a:endParaRPr lang="en-US" sz="900" dirty="0"/>
          </a:p>
        </p:txBody>
      </p:sp>
      <p:sp>
        <p:nvSpPr>
          <p:cNvPr id="62" name="Text 60"/>
          <p:cNvSpPr/>
          <p:nvPr/>
        </p:nvSpPr>
        <p:spPr>
          <a:xfrm>
            <a:off x="9646920" y="6071616"/>
            <a:ext cx="2011680" cy="256032"/>
          </a:xfrm>
          <a:prstGeom prst="rect">
            <a:avLst/>
          </a:prstGeom>
          <a:noFill/>
          <a:ln/>
        </p:spPr>
        <p:txBody>
          <a:bodyPr wrap="square" rtlCol="0" anchor="ctr"/>
          <a:lstStyle/>
          <a:p>
            <a:pPr marL="0" indent="0" algn="ctr">
              <a:buNone/>
            </a:pPr>
            <a:r>
              <a:rPr lang="en-US" sz="1300" b="1" dirty="0">
                <a:solidFill>
                  <a:srgbClr val="105000"/>
                </a:solidFill>
                <a:latin typeface="Calibri" pitchFamily="34" charset="0"/>
                <a:ea typeface="Calibri" pitchFamily="34" charset="-122"/>
                <a:cs typeface="Calibri" pitchFamily="34" charset="-120"/>
              </a:rPr>
              <a:t>0.13 – 0.37</a:t>
            </a:r>
            <a:endParaRPr lang="en-US" sz="1300" dirty="0"/>
          </a:p>
        </p:txBody>
      </p:sp>
      <p:sp>
        <p:nvSpPr>
          <p:cNvPr id="63" name="Text 61"/>
          <p:cNvSpPr/>
          <p:nvPr/>
        </p:nvSpPr>
        <p:spPr>
          <a:xfrm>
            <a:off x="9646920" y="6318504"/>
            <a:ext cx="2011680" cy="18288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r/weightlifting range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105000"/>
          </a:solidFill>
          <a:ln w="12700">
            <a:solidFill>
              <a:srgbClr val="105000"/>
            </a:solidFill>
            <a:prstDash val="solid"/>
          </a:ln>
        </p:spPr>
        <p:txBody>
          <a:bodyPr/>
          <a:lstStyle/>
          <a:p>
            <a:endParaRPr lang="en-US"/>
          </a:p>
        </p:txBody>
      </p:sp>
      <p:sp>
        <p:nvSpPr>
          <p:cNvPr id="3" name="Text 1"/>
          <p:cNvSpPr/>
          <p:nvPr/>
        </p:nvSpPr>
        <p:spPr>
          <a:xfrm>
            <a:off x="365760" y="0"/>
            <a:ext cx="9601200" cy="7772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Conclusions</a:t>
            </a:r>
            <a:endParaRPr lang="en-US" sz="2600" dirty="0"/>
          </a:p>
        </p:txBody>
      </p:sp>
      <p:sp>
        <p:nvSpPr>
          <p:cNvPr id="4" name="Text 2"/>
          <p:cNvSpPr/>
          <p:nvPr/>
        </p:nvSpPr>
        <p:spPr>
          <a:xfrm>
            <a:off x="0" y="6583680"/>
            <a:ext cx="12161520" cy="27432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Northwest Missouri State University  |  Web Mining Final Project</a:t>
            </a:r>
            <a:endParaRPr lang="en-US" sz="900" dirty="0"/>
          </a:p>
        </p:txBody>
      </p:sp>
      <p:sp>
        <p:nvSpPr>
          <p:cNvPr id="5" name="Shape 3"/>
          <p:cNvSpPr/>
          <p:nvPr/>
        </p:nvSpPr>
        <p:spPr>
          <a:xfrm>
            <a:off x="365761" y="914400"/>
            <a:ext cx="6118930" cy="292608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dirty="0"/>
          </a:p>
        </p:txBody>
      </p:sp>
      <p:pic>
        <p:nvPicPr>
          <p:cNvPr id="6" name="Image 0" descr="/home/claude/chart1_seasonal_sentiment.png"/>
          <p:cNvPicPr>
            <a:picLocks noChangeAspect="1"/>
          </p:cNvPicPr>
          <p:nvPr/>
        </p:nvPicPr>
        <p:blipFill>
          <a:blip r:embed="rId3"/>
          <a:stretch>
            <a:fillRect/>
          </a:stretch>
        </p:blipFill>
        <p:spPr>
          <a:xfrm>
            <a:off x="457200" y="960120"/>
            <a:ext cx="6027490" cy="2898648"/>
          </a:xfrm>
          <a:prstGeom prst="rect">
            <a:avLst/>
          </a:prstGeom>
        </p:spPr>
      </p:pic>
      <p:sp>
        <p:nvSpPr>
          <p:cNvPr id="7" name="Shape 4"/>
          <p:cNvSpPr/>
          <p:nvPr/>
        </p:nvSpPr>
        <p:spPr>
          <a:xfrm>
            <a:off x="6576129" y="914400"/>
            <a:ext cx="5219631" cy="292608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a:p>
        </p:txBody>
      </p:sp>
      <p:pic>
        <p:nvPicPr>
          <p:cNvPr id="8" name="Image 1" descr="/home/claude/chart2_gym_talk_inversion.png"/>
          <p:cNvPicPr>
            <a:picLocks noChangeAspect="1"/>
          </p:cNvPicPr>
          <p:nvPr/>
        </p:nvPicPr>
        <p:blipFill>
          <a:blip r:embed="rId4"/>
          <a:stretch>
            <a:fillRect/>
          </a:stretch>
        </p:blipFill>
        <p:spPr>
          <a:xfrm>
            <a:off x="7132345" y="1325879"/>
            <a:ext cx="4571975" cy="2289775"/>
          </a:xfrm>
          <a:prstGeom prst="rect">
            <a:avLst/>
          </a:prstGeom>
        </p:spPr>
      </p:pic>
      <p:sp>
        <p:nvSpPr>
          <p:cNvPr id="9" name="Text 5"/>
          <p:cNvSpPr/>
          <p:nvPr/>
        </p:nvSpPr>
        <p:spPr>
          <a:xfrm>
            <a:off x="7955280" y="960120"/>
            <a:ext cx="3749040" cy="320040"/>
          </a:xfrm>
          <a:prstGeom prst="rect">
            <a:avLst/>
          </a:prstGeom>
          <a:noFill/>
          <a:ln/>
        </p:spPr>
        <p:txBody>
          <a:bodyPr wrap="square" rtlCol="0" anchor="ctr"/>
          <a:lstStyle/>
          <a:p>
            <a:pPr marL="0" indent="0" algn="ctr">
              <a:buNone/>
            </a:pPr>
            <a:r>
              <a:rPr lang="en-US" sz="1200" b="1" dirty="0">
                <a:solidFill>
                  <a:srgbClr val="105000"/>
                </a:solidFill>
                <a:latin typeface="Calibri" pitchFamily="34" charset="0"/>
                <a:ea typeface="Calibri" pitchFamily="34" charset="-122"/>
                <a:cs typeface="Calibri" pitchFamily="34" charset="-120"/>
              </a:rPr>
              <a:t>Gym Talk Inversion</a:t>
            </a:r>
            <a:endParaRPr lang="en-US" sz="1200" dirty="0"/>
          </a:p>
        </p:txBody>
      </p:sp>
      <p:sp>
        <p:nvSpPr>
          <p:cNvPr id="10" name="Shape 6"/>
          <p:cNvSpPr/>
          <p:nvPr/>
        </p:nvSpPr>
        <p:spPr>
          <a:xfrm>
            <a:off x="348981" y="3977640"/>
            <a:ext cx="11446779" cy="2423160"/>
          </a:xfrm>
          <a:prstGeom prst="rect">
            <a:avLst/>
          </a:prstGeom>
          <a:solidFill>
            <a:srgbClr val="FFFFFF"/>
          </a:solidFill>
          <a:ln w="6350">
            <a:solidFill>
              <a:srgbClr val="E0E0E0"/>
            </a:solidFill>
            <a:prstDash val="solid"/>
          </a:ln>
          <a:effectLst>
            <a:outerShdw blurRad="101600" dist="38100" dir="8100000" algn="bl" rotWithShape="0">
              <a:srgbClr val="000000">
                <a:alpha val="10000"/>
              </a:srgbClr>
            </a:outerShdw>
          </a:effectLst>
        </p:spPr>
        <p:txBody>
          <a:bodyPr/>
          <a:lstStyle/>
          <a:p>
            <a:endParaRPr lang="en-US" dirty="0"/>
          </a:p>
        </p:txBody>
      </p:sp>
      <p:sp>
        <p:nvSpPr>
          <p:cNvPr id="11" name="Text 7"/>
          <p:cNvSpPr/>
          <p:nvPr/>
        </p:nvSpPr>
        <p:spPr>
          <a:xfrm>
            <a:off x="502920" y="4041648"/>
            <a:ext cx="10972800" cy="347472"/>
          </a:xfrm>
          <a:prstGeom prst="rect">
            <a:avLst/>
          </a:prstGeom>
          <a:noFill/>
          <a:ln/>
        </p:spPr>
        <p:txBody>
          <a:bodyPr wrap="square" rtlCol="0" anchor="ctr"/>
          <a:lstStyle/>
          <a:p>
            <a:pPr marL="0" indent="0">
              <a:buNone/>
            </a:pPr>
            <a:r>
              <a:rPr lang="en-US" sz="1500" b="1" dirty="0">
                <a:solidFill>
                  <a:srgbClr val="105000"/>
                </a:solidFill>
                <a:latin typeface="Calibri" pitchFamily="34" charset="0"/>
                <a:ea typeface="Calibri" pitchFamily="34" charset="-122"/>
                <a:cs typeface="Calibri" pitchFamily="34" charset="-120"/>
              </a:rPr>
              <a:t>Conclusions</a:t>
            </a:r>
            <a:endParaRPr lang="en-US" sz="1500" dirty="0"/>
          </a:p>
        </p:txBody>
      </p:sp>
      <p:sp>
        <p:nvSpPr>
          <p:cNvPr id="13" name="Text 9"/>
          <p:cNvSpPr/>
          <p:nvPr/>
        </p:nvSpPr>
        <p:spPr>
          <a:xfrm>
            <a:off x="457200" y="4443984"/>
            <a:ext cx="32004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0"/>
          <p:cNvSpPr/>
          <p:nvPr/>
        </p:nvSpPr>
        <p:spPr>
          <a:xfrm>
            <a:off x="562062" y="4462272"/>
            <a:ext cx="10913658" cy="39319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Going into this project we had 3 questions. And these are the conclusions we were able to gain and visualize.</a:t>
            </a:r>
          </a:p>
        </p:txBody>
      </p:sp>
      <p:sp>
        <p:nvSpPr>
          <p:cNvPr id="16" name="Text 12"/>
          <p:cNvSpPr/>
          <p:nvPr/>
        </p:nvSpPr>
        <p:spPr>
          <a:xfrm>
            <a:off x="457200" y="4946904"/>
            <a:ext cx="32004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5"/>
          <p:cNvSpPr/>
          <p:nvPr/>
        </p:nvSpPr>
        <p:spPr>
          <a:xfrm>
            <a:off x="457200" y="5449824"/>
            <a:ext cx="320040" cy="347472"/>
          </a:xfrm>
          <a:prstGeom prst="rect">
            <a:avLst/>
          </a:prstGeom>
          <a:noFill/>
          <a:ln/>
        </p:spPr>
        <p:txBody>
          <a:bodyPr wrap="square" lIns="0" tIns="0" rIns="0" bIns="0" rtlCol="0" anchor="ctr"/>
          <a:lstStyle/>
          <a:p>
            <a:pPr marL="0" indent="0" algn="ctr">
              <a:buNone/>
            </a:pPr>
            <a:endParaRPr lang="en-US" sz="1400" dirty="0"/>
          </a:p>
        </p:txBody>
      </p:sp>
      <p:sp>
        <p:nvSpPr>
          <p:cNvPr id="26" name="Text 10">
            <a:extLst>
              <a:ext uri="{FF2B5EF4-FFF2-40B4-BE49-F238E27FC236}">
                <a16:creationId xmlns:a16="http://schemas.microsoft.com/office/drawing/2014/main" id="{7D31BB8B-6ABB-277B-1954-F8C5853497DC}"/>
              </a:ext>
            </a:extLst>
          </p:cNvPr>
          <p:cNvSpPr/>
          <p:nvPr/>
        </p:nvSpPr>
        <p:spPr>
          <a:xfrm>
            <a:off x="566886" y="4873752"/>
            <a:ext cx="10858500" cy="39319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RQ1: Inconclusive. It showed a difference within r/weightlifting and no difference in r/fitness, which may suggest that it may have greater effect on niche communities. So, in the future, testing other niche communities may give us a better picture</a:t>
            </a:r>
          </a:p>
        </p:txBody>
      </p:sp>
      <p:sp>
        <p:nvSpPr>
          <p:cNvPr id="28" name="Text 6">
            <a:extLst>
              <a:ext uri="{FF2B5EF4-FFF2-40B4-BE49-F238E27FC236}">
                <a16:creationId xmlns:a16="http://schemas.microsoft.com/office/drawing/2014/main" id="{F53E5DB9-8B78-13AE-A31C-DC92F4F2E181}"/>
              </a:ext>
            </a:extLst>
          </p:cNvPr>
          <p:cNvSpPr/>
          <p:nvPr/>
        </p:nvSpPr>
        <p:spPr>
          <a:xfrm>
            <a:off x="4632960" y="1188720"/>
            <a:ext cx="329184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dirty="0">
                <a:solidFill>
                  <a:srgbClr val="FFFFFF"/>
                </a:solidFill>
                <a:latin typeface="Calibri" pitchFamily="34" charset="0"/>
                <a:ea typeface="Calibri" pitchFamily="34" charset="-122"/>
                <a:cs typeface="Calibri" pitchFamily="34" charset="-120"/>
              </a:rPr>
              <a:t>RQ1: Does adjusting VADER for gym slang change sentiment scores?</a:t>
            </a:r>
            <a:endParaRPr lang="en-US" sz="1000" dirty="0"/>
          </a:p>
        </p:txBody>
      </p:sp>
      <p:sp>
        <p:nvSpPr>
          <p:cNvPr id="31" name="Text 10">
            <a:extLst>
              <a:ext uri="{FF2B5EF4-FFF2-40B4-BE49-F238E27FC236}">
                <a16:creationId xmlns:a16="http://schemas.microsoft.com/office/drawing/2014/main" id="{B1BE89C4-DDDD-1526-F16C-511706077F06}"/>
              </a:ext>
            </a:extLst>
          </p:cNvPr>
          <p:cNvSpPr/>
          <p:nvPr/>
        </p:nvSpPr>
        <p:spPr>
          <a:xfrm>
            <a:off x="563321" y="5402760"/>
            <a:ext cx="10913658" cy="443484"/>
          </a:xfrm>
          <a:prstGeom prst="rect">
            <a:avLst/>
          </a:prstGeom>
          <a:noFill/>
          <a:ln/>
        </p:spPr>
        <p:txBody>
          <a:bodyPr wrap="square" rtlCol="0" anchor="ctr"/>
          <a:lstStyle/>
          <a:p>
            <a:r>
              <a:rPr lang="en-US" sz="1200" dirty="0">
                <a:solidFill>
                  <a:srgbClr val="1A1A1A"/>
                </a:solidFill>
                <a:latin typeface="Calibri" pitchFamily="34" charset="0"/>
                <a:ea typeface="Calibri" pitchFamily="34" charset="-122"/>
                <a:cs typeface="Calibri" pitchFamily="34" charset="-120"/>
              </a:rPr>
              <a:t>RQ2: No measurable January spike or fall plateau was found in either subreddit. r/fitness maintained consistently high sentiment (0.60–0.72) year-round. r/weightlifting showed greater variability (0.13–0.37) likely tied to competition cycles, not seasons. Will look into other communities to know if that analysis remains apparent.</a:t>
            </a:r>
            <a:endParaRPr lang="en-US" sz="1200" dirty="0"/>
          </a:p>
          <a:p>
            <a:pPr marL="0" indent="0">
              <a:buNone/>
            </a:pPr>
            <a:endParaRPr lang="en-US" sz="1200" dirty="0">
              <a:solidFill>
                <a:srgbClr val="1A1A1A"/>
              </a:solidFill>
              <a:latin typeface="Calibri" pitchFamily="34" charset="0"/>
              <a:ea typeface="Calibri" pitchFamily="34" charset="-122"/>
              <a:cs typeface="Calibri" pitchFamily="34" charset="-120"/>
            </a:endParaRPr>
          </a:p>
        </p:txBody>
      </p:sp>
      <p:sp>
        <p:nvSpPr>
          <p:cNvPr id="32" name="Text 10">
            <a:extLst>
              <a:ext uri="{FF2B5EF4-FFF2-40B4-BE49-F238E27FC236}">
                <a16:creationId xmlns:a16="http://schemas.microsoft.com/office/drawing/2014/main" id="{073B2EAF-AD76-B4EB-0AE4-7DFB8694B1F3}"/>
              </a:ext>
            </a:extLst>
          </p:cNvPr>
          <p:cNvSpPr/>
          <p:nvPr/>
        </p:nvSpPr>
        <p:spPr>
          <a:xfrm>
            <a:off x="558497" y="5905680"/>
            <a:ext cx="10858500" cy="393192"/>
          </a:xfrm>
          <a:prstGeom prst="rect">
            <a:avLst/>
          </a:prstGeom>
          <a:noFill/>
          <a:ln/>
        </p:spPr>
        <p:txBody>
          <a:bodyPr wrap="square" rtlCol="0" anchor="ctr"/>
          <a:lstStyle/>
          <a:p>
            <a:r>
              <a:rPr lang="en-US" sz="1200" dirty="0">
                <a:solidFill>
                  <a:srgbClr val="1A1A1A"/>
                </a:solidFill>
                <a:latin typeface="Calibri" pitchFamily="34" charset="0"/>
                <a:ea typeface="Calibri" pitchFamily="34" charset="-122"/>
                <a:cs typeface="Calibri" pitchFamily="34" charset="-120"/>
              </a:rPr>
              <a:t>RQ3: r/weightlifting top terms: snatch, clean, jerk, back squat, front squat — all Olympic lifting movements. r/fitness top terms: questions, thread, routine, search — general community language. Specialized communities develop and consistently use a denser technical vocabulary.</a:t>
            </a:r>
            <a:endParaRPr lang="en-US" sz="1200" dirty="0"/>
          </a:p>
          <a:p>
            <a:endParaRPr lang="en-US" sz="1200" dirty="0">
              <a:solidFill>
                <a:srgbClr val="1A1A1A"/>
              </a:solidFill>
              <a:latin typeface="Calibri" pitchFamily="34" charset="0"/>
              <a:ea typeface="Calibri" pitchFamily="34" charset="-122"/>
              <a:cs typeface="Calibri"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777</Words>
  <Application>Microsoft Office PowerPoint</Application>
  <PresentationFormat>Widescreen</PresentationFormat>
  <Paragraphs>95</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Sabaroche,Juvaan Michael</cp:lastModifiedBy>
  <cp:revision>3</cp:revision>
  <dcterms:created xsi:type="dcterms:W3CDTF">2026-04-29T03:04:03Z</dcterms:created>
  <dcterms:modified xsi:type="dcterms:W3CDTF">2026-04-29T04:49:07Z</dcterms:modified>
</cp:coreProperties>
</file>